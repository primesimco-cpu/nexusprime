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0"/>
            <a:ext cx="54864" cy="51435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Intelligence.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AI operating layer that replaces ChatGPT, Zapier,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AI, and 12 other tools — in one platform.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640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 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005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766560" y="1691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Target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1828800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2860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09560" y="232257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users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2944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09560" y="2980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36027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09560" y="363931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42611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909560" y="42976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deploy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NOT FOR DISTRIBUTION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workers use 14+ AI tools.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None of them talk to each other.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25603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2651760" cy="36576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Amnesia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doesn't know what you discussed with Claude. Every session starts from zero. You re-explain everything, every time.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651760" cy="25603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920240"/>
            <a:ext cx="2651760" cy="36576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knowledge worker pays $312/mo for fragmented AI tools. Zapier adds another $49 as glue. No integration = no intelligence.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51760" cy="25603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20240"/>
            <a:ext cx="2651760" cy="36576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0116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Unified Memory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tools don't learn. Your preferences, decisions, and context disappear. You're training your tools from scratch daily.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solidFill>
            <a:srgbClr val="1A1A24"/>
          </a:solidFill>
          <a:ln w="12700">
            <a:solidFill>
              <a:srgbClr val="30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63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average enterprise knowledge worker wastes 2.5 hours/day switching between disconnected AI tools." — McKinsey Digital,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NEXUS: The AI Operating Layer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unifies AI assistance, autonomous agents, automation, and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across all your tools — in a single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874520" cy="25146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1874520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</a:rPr>
              <a:t>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memory, personalized, knows all your context across every session and tool.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78608" y="2286000"/>
            <a:ext cx="1874520" cy="25146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2286000"/>
            <a:ext cx="187452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15768" y="2880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Mode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15768" y="3273552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execution. Give it a goal, walk away. Results delivered.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2286000"/>
            <a:ext cx="1874520" cy="25146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2286000"/>
            <a:ext cx="187452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45736" y="2880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3273552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integrations. Build workflows in plain English. No code, no Zapier.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38544" y="2286000"/>
            <a:ext cx="1874520" cy="25146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38544" y="2286000"/>
            <a:ext cx="1874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2423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0EB"/>
                </a:solidFill>
              </a:rPr>
              <a:t>🖥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75704" y="28803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AI 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75704" y="3273552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management of calendar, email, tasks. Your complete digital brain.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2606040"/>
            <a:ext cx="914400" cy="914400"/>
          </a:xfrm>
          <a:prstGeom prst="ellipse">
            <a:avLst/>
          </a:prstGeom>
          <a:solidFill>
            <a:srgbClr val="E8441A">
              <a:alpha val="15000"/>
            </a:srgbClr>
          </a:solidFill>
          <a:ln w="19050">
            <a:solidFill>
              <a:srgbClr val="E84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651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goal to result in seconds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0100" y="2011680"/>
            <a:ext cx="0" cy="594360"/>
          </a:xfrm>
          <a:prstGeom prst="line">
            <a:avLst/>
          </a:prstGeom>
          <a:noFill/>
          <a:ln w="19050">
            <a:solidFill>
              <a:srgbClr val="E8441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234440" y="15270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describe a 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 — no prompting skills needed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1508760"/>
            <a:ext cx="3931920" cy="530352"/>
          </a:xfrm>
          <a:prstGeom prst="rect">
            <a:avLst/>
          </a:prstGeom>
          <a:solidFill>
            <a:srgbClr val="16162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1508760"/>
            <a:ext cx="54864" cy="53035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3792" y="156362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 our top 3 competitors, extract pricing, add to Notion, email the team."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0100" y="3108960"/>
            <a:ext cx="0" cy="594360"/>
          </a:xfrm>
          <a:prstGeom prst="line">
            <a:avLst/>
          </a:prstGeom>
          <a:noFill/>
          <a:ln w="19050">
            <a:solidFill>
              <a:srgbClr val="E8441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234440" y="26243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 decomposes &amp; plans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autonomous plan generated in &lt;0.8s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2606040"/>
            <a:ext cx="3931920" cy="530352"/>
          </a:xfrm>
          <a:prstGeom prst="rect">
            <a:avLst/>
          </a:prstGeom>
          <a:solidFill>
            <a:srgbClr val="16162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606040"/>
            <a:ext cx="54864" cy="53035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66090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web → Analyze pages → Extract data → Open Notion → Create table → Draft email → Send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executes autonomously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9776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50+ tools, handles errors, adapts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0" y="3703320"/>
            <a:ext cx="3931920" cy="530352"/>
          </a:xfrm>
          <a:prstGeom prst="rect">
            <a:avLst/>
          </a:prstGeom>
          <a:solidFill>
            <a:srgbClr val="16162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3703320"/>
            <a:ext cx="54864" cy="53035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3758184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C0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step completes, verified, logged. You receive a structured report.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solidFill>
            <a:srgbClr val="E8441A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4663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Complex 6-tool workflow completed in 3.9 seconds. Zero manual steps.  Logged, repeatable, automatable.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Massive, fast-growing, underserved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926080" cy="2194560"/>
          </a:xfrm>
          <a:prstGeom prst="ellipse">
            <a:avLst/>
          </a:prstGeom>
          <a:solidFill>
            <a:srgbClr val="E8441A">
              <a:alpha val="12000"/>
            </a:srgbClr>
          </a:solidFill>
          <a:ln w="19050">
            <a:solidFill>
              <a:srgbClr val="E844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057400"/>
            <a:ext cx="2194560" cy="1645920"/>
          </a:xfrm>
          <a:prstGeom prst="ellipse">
            <a:avLst/>
          </a:prstGeom>
          <a:solidFill>
            <a:srgbClr val="2DD4BF">
              <a:alpha val="18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423160"/>
            <a:ext cx="1463040" cy="1097280"/>
          </a:xfrm>
          <a:prstGeom prst="ellipse">
            <a:avLst/>
          </a:prstGeom>
          <a:solidFill>
            <a:srgbClr val="FBBF24">
              <a:alpha val="2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920240"/>
            <a:ext cx="54864" cy="64008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920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$847B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23360" y="22494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AI Software Market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projection (Gartner)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2834640"/>
            <a:ext cx="54864" cy="640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8529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$142B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23360" y="31638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Productivity &amp; Automation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prosumer tools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749040"/>
            <a:ext cx="54864" cy="640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767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$8.4B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023360" y="407822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AI 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addressable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737360"/>
            <a:ext cx="1920240" cy="10972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84848" y="1828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84848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knowledge workers use 5+ AI tools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2487168"/>
            <a:ext cx="1920240" cy="10972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84848" y="257860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84848" y="31455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AI tool spend per user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3236976"/>
            <a:ext cx="1920240" cy="10972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84848" y="332841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2.5B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784848" y="389534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knowledge workers by 2027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75120" y="3986784"/>
            <a:ext cx="1920240" cy="10972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84848" y="4078224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784848" y="46451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AI productivity spend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sit at the intersection nobody owns yet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503920" cy="347472"/>
          </a:xfrm>
          <a:prstGeom prst="rect">
            <a:avLst/>
          </a:prstGeom>
          <a:solidFill>
            <a:srgbClr val="2A2A30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636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40280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10128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79976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49824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19672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89520" y="15636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8503920" cy="47548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0128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9976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9824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19672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20116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450592"/>
            <a:ext cx="8503920" cy="475488"/>
          </a:xfrm>
          <a:prstGeom prst="rect">
            <a:avLst/>
          </a:prstGeom>
          <a:solidFill>
            <a:srgbClr val="141420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5420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40280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79976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9824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9672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2542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$49/mo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980944"/>
            <a:ext cx="8503920" cy="47548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0723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AI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40280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0128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79976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9824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9672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89520" y="30723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$10/mo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511296"/>
            <a:ext cx="8503920" cy="475488"/>
          </a:xfrm>
          <a:prstGeom prst="rect">
            <a:avLst/>
          </a:prstGeom>
          <a:solidFill>
            <a:srgbClr val="141420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60273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365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40280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0128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79976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49824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only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19672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89520" y="36027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$30/mo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041648"/>
            <a:ext cx="8503920" cy="475488"/>
          </a:xfrm>
          <a:prstGeom prst="rect">
            <a:avLst/>
          </a:prstGeom>
          <a:solidFill>
            <a:srgbClr val="E8441A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41330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AI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240280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Full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10128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Full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379976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Full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49824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 tools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19672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Full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89520" y="41330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$19/mo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75488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= Full native support   Partial = Limited/plugin-only   ✗ = Not available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signals are strong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65960" cy="11430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965960" cy="45720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1,284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90-day cohort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97480" y="1508760"/>
            <a:ext cx="1965960" cy="11430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508760"/>
            <a:ext cx="1965960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15727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247/day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Run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88920" y="23317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Peak: 891/day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1965960" cy="11430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196596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5727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4.9★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37760" y="20756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3317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NPS: 72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95160" y="1508760"/>
            <a:ext cx="1965960" cy="11430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1508760"/>
            <a:ext cx="19659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57276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086600" y="20756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Savings/User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23317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old tool stack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GROWTH — LAST 12 WEEKS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4182654"/>
            <a:ext cx="502920" cy="41874"/>
          </a:xfrm>
          <a:prstGeom prst="rect">
            <a:avLst/>
          </a:prstGeom>
          <a:solidFill>
            <a:srgbClr val="E8441A">
              <a:alpha val="40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298448" y="4146761"/>
            <a:ext cx="502920" cy="77767"/>
          </a:xfrm>
          <a:prstGeom prst="rect">
            <a:avLst/>
          </a:prstGeom>
          <a:solidFill>
            <a:srgbClr val="E8441A">
              <a:alpha val="45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956816" y="4129812"/>
            <a:ext cx="502920" cy="94716"/>
          </a:xfrm>
          <a:prstGeom prst="rect">
            <a:avLst/>
          </a:prstGeom>
          <a:solidFill>
            <a:srgbClr val="E8441A">
              <a:alpha val="51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56816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615184" y="4079962"/>
            <a:ext cx="502920" cy="144566"/>
          </a:xfrm>
          <a:prstGeom prst="rect">
            <a:avLst/>
          </a:prstGeom>
          <a:solidFill>
            <a:srgbClr val="E8441A">
              <a:alpha val="56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W4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73552" y="4027120"/>
            <a:ext cx="502920" cy="197408"/>
          </a:xfrm>
          <a:prstGeom prst="rect">
            <a:avLst/>
          </a:prstGeom>
          <a:solidFill>
            <a:srgbClr val="E8441A">
              <a:alpha val="62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W5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931920" y="3958327"/>
            <a:ext cx="502920" cy="266201"/>
          </a:xfrm>
          <a:prstGeom prst="rect">
            <a:avLst/>
          </a:prstGeom>
          <a:solidFill>
            <a:srgbClr val="E8441A">
              <a:alpha val="67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W6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90288" y="3891527"/>
            <a:ext cx="502920" cy="333001"/>
          </a:xfrm>
          <a:prstGeom prst="rect">
            <a:avLst/>
          </a:prstGeom>
          <a:solidFill>
            <a:srgbClr val="E8441A">
              <a:alpha val="73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W7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248656" y="3769892"/>
            <a:ext cx="502920" cy="454636"/>
          </a:xfrm>
          <a:prstGeom prst="rect">
            <a:avLst/>
          </a:prstGeom>
          <a:solidFill>
            <a:srgbClr val="E8441A">
              <a:alpha val="78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W8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907024" y="3614358"/>
            <a:ext cx="502920" cy="610170"/>
          </a:xfrm>
          <a:prstGeom prst="rect">
            <a:avLst/>
          </a:prstGeom>
          <a:solidFill>
            <a:srgbClr val="E8441A">
              <a:alpha val="84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7024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W9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565392" y="3406980"/>
            <a:ext cx="502920" cy="817548"/>
          </a:xfrm>
          <a:prstGeom prst="rect">
            <a:avLst/>
          </a:prstGeom>
          <a:solidFill>
            <a:srgbClr val="E8441A">
              <a:alpha val="89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223760" y="3186641"/>
            <a:ext cx="502920" cy="1037887"/>
          </a:xfrm>
          <a:prstGeom prst="rect">
            <a:avLst/>
          </a:prstGeom>
          <a:solidFill>
            <a:srgbClr val="E8441A">
              <a:alpha val="95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82128" y="2944368"/>
            <a:ext cx="502920" cy="1280160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82128" y="427939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790688" y="2715768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1,284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58000" y="2743200"/>
            <a:ext cx="2103120" cy="18745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967728" y="2816352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FUNNEL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967728" y="3090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138160" y="3090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67728" y="3438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138160" y="343814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5.8%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67728" y="3785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138160" y="37856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73%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67728" y="41330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paid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138160" y="41330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Multi-layer recurring revenue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65960" cy="32004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1965960" cy="54864"/>
          </a:xfrm>
          <a:prstGeom prst="rect">
            <a:avLst/>
          </a:prstGeom>
          <a:solidFill>
            <a:srgbClr val="6B6B70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92024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423160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670048"/>
            <a:ext cx="1746504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4320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 engine. 50 AI interactions, 1 automation. Gateway to paid.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6B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89888" y="3767328"/>
            <a:ext cx="1014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signups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97480" y="1508760"/>
            <a:ext cx="1965960" cy="3200400"/>
          </a:xfrm>
          <a:prstGeom prst="rect">
            <a:avLst/>
          </a:prstGeom>
          <a:solidFill>
            <a:srgbClr val="1E102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97480" y="1508760"/>
            <a:ext cx="1965960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1627632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07208" y="192024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807208" y="2423160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07208" y="2670048"/>
            <a:ext cx="1746504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274320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AI, 10 automations, 5 integrations, 30-day memory. Core revenue driver.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07208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38728" y="3767328"/>
            <a:ext cx="1014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1965960" cy="32004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508760"/>
            <a:ext cx="19659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627632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6048" y="192024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956048" y="2423160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56048" y="2670048"/>
            <a:ext cx="1746504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274320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everything, 50+ integrations, team seats, advanced analytics.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6048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87568" y="3767328"/>
            <a:ext cx="1014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95160" y="1508760"/>
            <a:ext cx="1965960" cy="320040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95160" y="1508760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04888" y="1627632"/>
            <a:ext cx="1746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04888" y="1920240"/>
            <a:ext cx="1746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104888" y="2423160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$500/mo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04888" y="2670048"/>
            <a:ext cx="1746504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04888" y="2743200"/>
            <a:ext cx="17465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infra, SSO, custom LLM, SLA 99.99%, CSM. Highest margin tier.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04888" y="37033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836408" y="3767328"/>
            <a:ext cx="10149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8640" y="480060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Streams: API usage ($0.001/call) · Marketplace commissions (15%) · Premium integrations ($5-25/mo) · White-label licensing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path to $10M ARR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70048" cy="25603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2670048" cy="54864"/>
          </a:xfrm>
          <a:prstGeom prst="rect">
            <a:avLst/>
          </a:prstGeom>
          <a:solidFill>
            <a:srgbClr val="6B6B70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27632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$1.08M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24505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163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816352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3108960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$90K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401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03120" y="3401568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6941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3694176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&lt;3%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01568" y="1508760"/>
            <a:ext cx="2670048" cy="2560320"/>
          </a:xfrm>
          <a:prstGeom prst="rect">
            <a:avLst/>
          </a:prstGeom>
          <a:solidFill>
            <a:srgbClr val="1A10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01568" y="1508760"/>
            <a:ext cx="2670048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1627632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38728" y="1901952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$8.2M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538728" y="24505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38728" y="269748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28163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6048" y="2816352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85,000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38728" y="31089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56048" y="3108960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$680K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38728" y="3401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56048" y="3401568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38728" y="36941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56048" y="3694176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&lt;2%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54496" y="1508760"/>
            <a:ext cx="2670048" cy="25603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1508760"/>
            <a:ext cx="2670048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91656" y="1627632"/>
            <a:ext cx="2395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91656" y="1901952"/>
            <a:ext cx="23957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$28.8M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6391656" y="2450592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91656" y="269748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28163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08976" y="2816352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280,000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91656" y="31089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08976" y="3108960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$2.4M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91656" y="3401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08976" y="3401568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91656" y="36941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08976" y="3694176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&lt;1.5%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4206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48640" y="4407408"/>
            <a:ext cx="1965960" cy="56692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1737360" y="448056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(PLG-led)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697480" y="4407408"/>
            <a:ext cx="1965960" cy="56692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8892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$773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3886200" y="448056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(3% churn)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4407408"/>
            <a:ext cx="1965960" cy="56692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51×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035040" y="448056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ratio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95160" y="4407408"/>
            <a:ext cx="1965960" cy="566928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8660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&lt;1mo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8183880" y="448056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 — $8M SERIES 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Fuel to $10M ARR in 24 months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411480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276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1500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0" y="17830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$3.2M — Grow eng team to 12, ship mobile app, expand agent capabilities, enterprise features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508760" cy="411480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86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22128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2441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$2.4M — PLG motion, enterprise sales team (4 AEs), paid acquisition, content engine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75438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443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28712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309981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— Anthropic API, AWS compute, security certification (SOC 2), EU data residency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502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60273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35295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37581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$0.8M — Enterprise onboarding, CS team (3 CSMs), support infrastructure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251460" cy="411480"/>
          </a:xfrm>
          <a:prstGeom prst="rect">
            <a:avLst/>
          </a:prstGeom>
          <a:solidFill>
            <a:srgbClr val="6B6B70">
              <a:alpha val="50000"/>
            </a:srgbClr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2611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8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41879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4416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$0.4M — Corp structure, IP protection, international entity setup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503920" cy="32004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7365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Runway: 18 months  ·  Break-even: Month 14  ·  Series B trigger: $4M ARR  ·  Target close: Q2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GO-TO-MARKET STRATEGY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PLG-led, enterprise-pulled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70048" cy="31546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670048" cy="54864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64208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0-6 months · Launch &amp; PMF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 (target: #1 of day)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7980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network activation (500+ warm contacts)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Build-in-public Twitter/LinkedIn strategy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6393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program: $10 credit per conversion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0599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5,000 users, $50K MRR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01568" y="1554480"/>
            <a:ext cx="2670048" cy="31546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01568" y="1554480"/>
            <a:ext cx="2670048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1664208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38728" y="18836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6-18 months · Growth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38728" y="228600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machine (100 articles/mo)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38728" y="27980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outbound (4 AE team)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38728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marketplace launch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38728" y="36393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partnerships (agencies, consultants)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40599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50,000 users, $500K MRR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1554480"/>
            <a:ext cx="2670048" cy="315468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1554480"/>
            <a:ext cx="267004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1664208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91656" y="1883664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18-36 months · Scale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91656" y="2286000"/>
            <a:ext cx="2395728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(EU, APAC)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91656" y="27980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program for agencies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91656" y="321868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 marketplace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91656" y="36393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 (HubSpot, Salesforce ecosystem)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91656" y="405993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200K users, $2M+ MRR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&amp; COMPETITIVE MOAT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flywheel + network effects = defensible position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097280" cy="438912"/>
          </a:xfrm>
          <a:prstGeom prst="rect">
            <a:avLst/>
          </a:prstGeom>
          <a:solidFill>
            <a:srgbClr val="E8441A">
              <a:alpha val="20000"/>
            </a:srgbClr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Layer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55648" y="1719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· RAG pipeline · Prompt caching · Custom embeddings · Tool calling · Streaming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1097280" cy="438912"/>
          </a:xfrm>
          <a:prstGeom prst="rect">
            <a:avLst/>
          </a:prstGeom>
          <a:solidFill>
            <a:srgbClr val="2DD4BF">
              <a:alpha val="20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8600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55648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· FastAPI · PostgreSQL · Redis · K8s · AWS · WebSocket · gRPC · Event-driven architecture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1097280" cy="438912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83464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55648" y="28163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React Native · TypeScript · Real-time sync · PWA · Offline-first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1097280" cy="43891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383280"/>
            <a:ext cx="1060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55648" y="3364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ready · JWT · mTLS · AES-256 at rest · Zero-trust networking · RBAC · Audit logging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4447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DEFENSIBLE MOATS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669280" y="1664208"/>
            <a:ext cx="329184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71907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Flywheel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06440" y="19385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interaction improves model accuracy. More users = smarter AI = better product = more users.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0" y="2395728"/>
            <a:ext cx="329184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245059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Effects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267004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using NEXUS together share automation templates and workflows. Switching cost grows with team size.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0" y="3127248"/>
            <a:ext cx="329184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31821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Depth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4015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deep integrations create switching costs. Reconnecting 50 tools is a 40-hour project.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3858768"/>
            <a:ext cx="3291840" cy="64008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06440" y="391363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Lock-in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41330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memory and preferences are yours — but recreating 6 months of context elsewhere is near-impossible.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OFFERING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$500M+ enterprise opportunity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SSO / SAML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892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Okta, Azure AD, Google Workspace. Deploy in 48 hours.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01568" y="15087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🏗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33088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Infra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33088" y="1892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instance, your cloud or ours. No shared resources.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54496" y="15087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16002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6016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LLM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6016" y="18928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 your data. Bring your own model endpoint.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2971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Ready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264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II, GDPR, HIPAA, ISO 27001. DPA included.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1568" y="28803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66160" y="2971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133088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 99.99%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33088" y="3264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penalty-backed. Priority incident response &lt;15 min.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4496" y="2880360"/>
            <a:ext cx="2670048" cy="118872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19088" y="2971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86016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86016" y="326440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customer success. Custom onboarding for every team.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8503920" cy="594360"/>
          </a:xfrm>
          <a:prstGeom prst="rect">
            <a:avLst/>
          </a:prstGeom>
          <a:solidFill>
            <a:srgbClr val="1808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4343400"/>
            <a:ext cx="85039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Enterprise: From $500/mo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contracts · Unlimited users · Unlimited automations · Dedicated infrastructure · Named CSM · 48h deployment SLA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 who have done it before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114800" cy="14630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&amp; Founder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984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global GTM · Built 3 companies to exit · $200M+ in enterprise deals closed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2441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ex-McKinsey · Startup advisor · 50+ unicorn connections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4114800" cy="14630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737360"/>
            <a:ext cx="822960" cy="8229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&amp; Founder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9842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Ultra CTO · AI/ML systems architect · 0→1 platform builder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26480" y="2441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Distributed systems · Claude API integration · Full-stack enterprise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4114800" cy="14630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383280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 Product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36301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 specialist · PLG playbooks at scale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4087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ex-Notion · ex-Linear · 0→1M user journeys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3154680"/>
            <a:ext cx="4114800" cy="14630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3383280"/>
            <a:ext cx="822960" cy="8229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264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Lead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6301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fine-tuning, RAG systems, agent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4087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ex-Anthropic ecosystem · ML research background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46451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ADVISORS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737360" y="46451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Board-level advisors from Google, a16z, Stripe, and Anthropic ecosystem · Strategic network: 200+ CTO/VP contacts in target segments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18-MONTH 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Shipped, shipping, and planned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503920" cy="54864"/>
          </a:xfrm>
          <a:prstGeom prst="rect">
            <a:avLst/>
          </a:prstGeom>
          <a:solidFill>
            <a:srgbClr val="2A2A30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Core AI engine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Auth + billing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 integrations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Landing page v3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1481328"/>
            <a:ext cx="201168" cy="201168"/>
          </a:xfrm>
          <a:prstGeom prst="ellipse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737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6032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mode v2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487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 app beta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20+ integrations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Series A close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481328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37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Enterprise SSO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487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Custom LLM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EU region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50+ integrations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481328"/>
            <a:ext cx="201168" cy="201168"/>
          </a:xfrm>
          <a:prstGeom prst="ellipse">
            <a:avLst/>
          </a:prstGeom>
          <a:solidFill>
            <a:srgbClr val="6B6B70"/>
          </a:solidFill>
          <a:ln w="12700">
            <a:solidFill>
              <a:srgbClr val="6B6B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73736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011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Mobile GA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487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API marketplace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9626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White-label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49440" y="343814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Series B prep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736592"/>
            <a:ext cx="109728" cy="182880"/>
          </a:xfrm>
          <a:prstGeom prst="rect">
            <a:avLst/>
          </a:prstGeom>
          <a:solidFill>
            <a:srgbClr val="4ADE80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Shipped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40280" y="4736592"/>
            <a:ext cx="109728" cy="182880"/>
          </a:xfrm>
          <a:prstGeom prst="rect">
            <a:avLst/>
          </a:prstGeom>
          <a:solidFill>
            <a:srgbClr val="E8441A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 progress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931920" y="4736592"/>
            <a:ext cx="109728" cy="182880"/>
          </a:xfrm>
          <a:prstGeom prst="rect">
            <a:avLst/>
          </a:prstGeom>
          <a:solidFill>
            <a:srgbClr val="6B6B70"/>
          </a:solidFill>
          <a:ln w="12700">
            <a:solidFill>
              <a:srgbClr val="08080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47365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Planned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CUSTOMER 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 speak for themselves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70048" cy="28346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ChatGPT Plus, Claude Pro, Zapier, and Notion AI on the same day. NEXUS does everything they did — together — for less than the price of one.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3749040"/>
            <a:ext cx="2377440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840480"/>
            <a:ext cx="411480" cy="411480"/>
          </a:xfrm>
          <a:prstGeom prst="ellipse">
            <a:avLst/>
          </a:prstGeom>
          <a:solidFill>
            <a:srgbClr val="E8441A">
              <a:alpha val="20000"/>
            </a:srgbClr>
          </a:solidFill>
          <a:ln w="19050">
            <a:solidFill>
              <a:srgbClr val="E84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34440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Kapoor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405993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Founder, SaaSify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01568" y="1463040"/>
            <a:ext cx="2670048" cy="28346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38728" y="1508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system is insane. It remembers how I like reports formatted, which clients to prioritize, my writing style. It's like having an assistant who never forgets.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3749040"/>
            <a:ext cx="2377440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3840480"/>
            <a:ext cx="411480" cy="411480"/>
          </a:xfrm>
          <a:prstGeom prst="ellipse">
            <a:avLst/>
          </a:prstGeom>
          <a:solidFill>
            <a:srgbClr val="2DD4BF">
              <a:alpha val="20000"/>
            </a:srgbClr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Navarro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87368" y="405993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of Growth, Meridian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54496" y="1463040"/>
            <a:ext cx="2670048" cy="28346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91656" y="1508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19088" y="210312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workflow that monitors competitors, summarizes changes, and sends a briefing every Friday. Used to take 3 hours. Now zero hours.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19088" y="3749040"/>
            <a:ext cx="2377440" cy="0"/>
          </a:xfrm>
          <a:prstGeom prst="line">
            <a:avLst/>
          </a:prstGeom>
          <a:noFill/>
          <a:ln w="6350">
            <a:solidFill>
              <a:srgbClr val="303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3840480"/>
            <a:ext cx="411480" cy="411480"/>
          </a:xfrm>
          <a:prstGeom prst="ellipse">
            <a:avLst/>
          </a:prstGeom>
          <a:solidFill>
            <a:srgbClr val="FBBF24">
              <a:alpha val="2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0296" y="385876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Weber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0296" y="405993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CTO, Stacklane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4407408"/>
            <a:ext cx="8503920" cy="530352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5262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72  ·  4.9★ avg rating  ·  94% would recommend  ·  Avg tools replaced: 4.2  ·  Avg monthly savings: $312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27432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44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 Series 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$10M ARR and category leadership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57600" cy="2606040"/>
          </a:xfrm>
          <a:prstGeom prst="rect">
            <a:avLst/>
          </a:prstGeom>
          <a:solidFill>
            <a:srgbClr val="2A2A30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 SHEET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2715768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231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242316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$8,000,000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3063240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770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2770632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Equity Round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3410712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1181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3118104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$32,000,000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3758184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4655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465576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4105656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813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investor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60320" y="3813048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3232" y="4453128"/>
            <a:ext cx="3328416" cy="0"/>
          </a:xfrm>
          <a:prstGeom prst="line">
            <a:avLst/>
          </a:prstGeom>
          <a:noFill/>
          <a:ln w="5080">
            <a:solidFill>
              <a:srgbClr val="2828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41605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check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416052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$500,000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2103120"/>
            <a:ext cx="4526280" cy="2606040"/>
          </a:xfrm>
          <a:prstGeom prst="rect">
            <a:avLst/>
          </a:prstGeom>
          <a:solidFill>
            <a:srgbClr val="1A1A24"/>
          </a:solidFill>
          <a:ln w="6350">
            <a:solidFill>
              <a:srgbClr val="303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21762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INVESTORS GET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$847B AI software TAM at category-creating moment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27797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51× LTV/CAC — best-in-class unit economics before Series A spend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3136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 moat that grows with every user — defensible position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17720" y="3493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Revenue-ready enterprise pipeline with 3 LOIs in negotiation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17720" y="38496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with 20+ years enterprise GTM + deep technical AI expertise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17720" y="4206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E84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seat + pro-rata rights for follow-on rounds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0" y="4892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0" y="457200"/>
            <a:ext cx="594360" cy="594360"/>
          </a:xfrm>
          <a:prstGeom prst="rect">
            <a:avLst/>
          </a:prstGeom>
          <a:solidFill>
            <a:srgbClr val="E8441A"/>
          </a:solidFill>
          <a:ln w="12700">
            <a:solidFill>
              <a:srgbClr val="E844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457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NEXUS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Intelligence.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AI together.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2700">
            <a:solidFill>
              <a:srgbClr val="404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3017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4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investors@nexus.ai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36499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nexus.ai/investor-deck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7124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(415) NEXUS-AI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6B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 — Series A Materials — © 2026 NEXUS AI Inc.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AI — Series A Pitch Deck</dc:title>
  <dc:subject>Investment Opportunity</dc:subject>
  <dc:creator>NEXUS AI</dc:creator>
  <cp:lastModifiedBy>NEXUS AI</cp:lastModifiedBy>
  <cp:revision>1</cp:revision>
  <dcterms:created xsi:type="dcterms:W3CDTF">2026-04-07T01:15:26Z</dcterms:created>
  <dcterms:modified xsi:type="dcterms:W3CDTF">2026-04-07T01:15:26Z</dcterms:modified>
</cp:coreProperties>
</file>